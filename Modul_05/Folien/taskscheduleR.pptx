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8"/>
  </p:notesMasterIdLst>
  <p:sldIdLst>
    <p:sldId id="256" r:id="rId2"/>
    <p:sldId id="408" r:id="rId3"/>
    <p:sldId id="432" r:id="rId4"/>
    <p:sldId id="433" r:id="rId5"/>
    <p:sldId id="425" r:id="rId6"/>
    <p:sldId id="430" r:id="rId7"/>
    <p:sldId id="426" r:id="rId8"/>
    <p:sldId id="427" r:id="rId9"/>
    <p:sldId id="428" r:id="rId10"/>
    <p:sldId id="429" r:id="rId11"/>
    <p:sldId id="420" r:id="rId12"/>
    <p:sldId id="421" r:id="rId13"/>
    <p:sldId id="422" r:id="rId14"/>
    <p:sldId id="423" r:id="rId15"/>
    <p:sldId id="434" r:id="rId16"/>
    <p:sldId id="431" r:id="rId17"/>
  </p:sldIdLst>
  <p:sldSz cx="12192000" cy="6858000"/>
  <p:notesSz cx="9872663" cy="6797675"/>
  <p:custDataLst>
    <p:tags r:id="rId1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EA"/>
    <a:srgbClr val="F4F8F9"/>
    <a:srgbClr val="E9D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B2F84B-639E-40B3-AE4B-301212641B1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0CB2402-F6B6-4D81-BC72-93A0671A3316}">
      <dgm:prSet/>
      <dgm:spPr/>
      <dgm:t>
        <a:bodyPr/>
        <a:lstStyle/>
        <a:p>
          <a:endParaRPr lang="de-DE" noProof="0" dirty="0"/>
        </a:p>
      </dgm:t>
    </dgm:pt>
    <dgm:pt modelId="{6AE90AFC-59FE-4FF3-903E-27056B152E69}" type="parTrans" cxnId="{2F044A43-486E-4DD0-8711-04BC7108472E}">
      <dgm:prSet/>
      <dgm:spPr/>
      <dgm:t>
        <a:bodyPr/>
        <a:lstStyle/>
        <a:p>
          <a:endParaRPr lang="en-GB"/>
        </a:p>
      </dgm:t>
    </dgm:pt>
    <dgm:pt modelId="{5295DECB-FB14-4357-B099-97B1B2F2B232}" type="sibTrans" cxnId="{2F044A43-486E-4DD0-8711-04BC7108472E}">
      <dgm:prSet/>
      <dgm:spPr/>
      <dgm:t>
        <a:bodyPr/>
        <a:lstStyle/>
        <a:p>
          <a:endParaRPr lang="en-GB"/>
        </a:p>
      </dgm:t>
    </dgm:pt>
    <dgm:pt modelId="{97F8B4C7-BF84-4E30-902C-1B884DE9C968}">
      <dgm:prSet/>
      <dgm:spPr/>
      <dgm:t>
        <a:bodyPr/>
        <a:lstStyle/>
        <a:p>
          <a:endParaRPr lang="de-DE" noProof="0" dirty="0"/>
        </a:p>
      </dgm:t>
    </dgm:pt>
    <dgm:pt modelId="{E63A8089-AE4E-4371-BD78-DE41CEE0D5A9}" type="parTrans" cxnId="{E8178585-B6C9-47DC-98B8-C8E3C456253B}">
      <dgm:prSet/>
      <dgm:spPr/>
      <dgm:t>
        <a:bodyPr/>
        <a:lstStyle/>
        <a:p>
          <a:endParaRPr lang="en-GB"/>
        </a:p>
      </dgm:t>
    </dgm:pt>
    <dgm:pt modelId="{56D00F59-67D3-4D86-9B3D-6F5E624EAE27}" type="sibTrans" cxnId="{E8178585-B6C9-47DC-98B8-C8E3C456253B}">
      <dgm:prSet/>
      <dgm:spPr/>
      <dgm:t>
        <a:bodyPr/>
        <a:lstStyle/>
        <a:p>
          <a:endParaRPr lang="en-GB"/>
        </a:p>
      </dgm:t>
    </dgm:pt>
    <dgm:pt modelId="{F55D9DDB-783D-4A18-9A0F-D5A10674BCFF}">
      <dgm:prSet/>
      <dgm:spPr/>
      <dgm:t>
        <a:bodyPr/>
        <a:lstStyle/>
        <a:p>
          <a:endParaRPr lang="de-DE" noProof="0" dirty="0"/>
        </a:p>
      </dgm:t>
    </dgm:pt>
    <dgm:pt modelId="{E80CA20A-4E59-4736-BA14-B7A23D97C22D}" type="parTrans" cxnId="{57CE758A-F128-40EB-8807-4F7210D15B3F}">
      <dgm:prSet/>
      <dgm:spPr/>
      <dgm:t>
        <a:bodyPr/>
        <a:lstStyle/>
        <a:p>
          <a:endParaRPr lang="en-GB"/>
        </a:p>
      </dgm:t>
    </dgm:pt>
    <dgm:pt modelId="{3C45C905-35D6-47F6-A6F7-203755791E53}" type="sibTrans" cxnId="{57CE758A-F128-40EB-8807-4F7210D15B3F}">
      <dgm:prSet/>
      <dgm:spPr/>
      <dgm:t>
        <a:bodyPr/>
        <a:lstStyle/>
        <a:p>
          <a:endParaRPr lang="en-GB"/>
        </a:p>
      </dgm:t>
    </dgm:pt>
    <dgm:pt modelId="{29A1466B-8484-4CD9-BB80-BABECFC7FE1D}">
      <dgm:prSet/>
      <dgm:spPr/>
      <dgm:t>
        <a:bodyPr/>
        <a:lstStyle/>
        <a:p>
          <a:endParaRPr lang="de-DE" noProof="0" dirty="0"/>
        </a:p>
      </dgm:t>
    </dgm:pt>
    <dgm:pt modelId="{5592724E-3BBF-4900-881D-3559F3409F8C}" type="parTrans" cxnId="{155219B7-FA21-4A19-9E9C-358115807694}">
      <dgm:prSet/>
      <dgm:spPr/>
      <dgm:t>
        <a:bodyPr/>
        <a:lstStyle/>
        <a:p>
          <a:endParaRPr lang="en-GB"/>
        </a:p>
      </dgm:t>
    </dgm:pt>
    <dgm:pt modelId="{1EEB9121-9512-4B7C-9178-84204947D642}" type="sibTrans" cxnId="{155219B7-FA21-4A19-9E9C-358115807694}">
      <dgm:prSet/>
      <dgm:spPr/>
      <dgm:t>
        <a:bodyPr/>
        <a:lstStyle/>
        <a:p>
          <a:endParaRPr lang="en-GB"/>
        </a:p>
      </dgm:t>
    </dgm:pt>
    <dgm:pt modelId="{D77E52F2-8D36-41A3-8B82-F9D8BB9ADDBB}" type="pres">
      <dgm:prSet presAssocID="{65B2F84B-639E-40B3-AE4B-301212641B1D}" presName="cycle" presStyleCnt="0">
        <dgm:presLayoutVars>
          <dgm:dir/>
          <dgm:resizeHandles val="exact"/>
        </dgm:presLayoutVars>
      </dgm:prSet>
      <dgm:spPr/>
    </dgm:pt>
    <dgm:pt modelId="{D92B18EB-0445-49A8-80E3-81B845A44F6B}" type="pres">
      <dgm:prSet presAssocID="{C0CB2402-F6B6-4D81-BC72-93A0671A3316}" presName="dummy" presStyleCnt="0"/>
      <dgm:spPr/>
    </dgm:pt>
    <dgm:pt modelId="{CA2E4472-B8CC-4B34-9647-838E3B404F5B}" type="pres">
      <dgm:prSet presAssocID="{C0CB2402-F6B6-4D81-BC72-93A0671A3316}" presName="node" presStyleLbl="revTx" presStyleIdx="0" presStyleCnt="4">
        <dgm:presLayoutVars>
          <dgm:bulletEnabled val="1"/>
        </dgm:presLayoutVars>
      </dgm:prSet>
      <dgm:spPr/>
    </dgm:pt>
    <dgm:pt modelId="{1A24E320-9A09-45F0-8EAB-C513FB3C8C17}" type="pres">
      <dgm:prSet presAssocID="{5295DECB-FB14-4357-B099-97B1B2F2B232}" presName="sibTrans" presStyleLbl="node1" presStyleIdx="0" presStyleCnt="4"/>
      <dgm:spPr/>
    </dgm:pt>
    <dgm:pt modelId="{DB3D2618-16E0-4517-9A55-21FCB3A8E40B}" type="pres">
      <dgm:prSet presAssocID="{97F8B4C7-BF84-4E30-902C-1B884DE9C968}" presName="dummy" presStyleCnt="0"/>
      <dgm:spPr/>
    </dgm:pt>
    <dgm:pt modelId="{A15D172D-621F-402C-AAFB-56AA562FF8AE}" type="pres">
      <dgm:prSet presAssocID="{97F8B4C7-BF84-4E30-902C-1B884DE9C968}" presName="node" presStyleLbl="revTx" presStyleIdx="1" presStyleCnt="4">
        <dgm:presLayoutVars>
          <dgm:bulletEnabled val="1"/>
        </dgm:presLayoutVars>
      </dgm:prSet>
      <dgm:spPr/>
    </dgm:pt>
    <dgm:pt modelId="{7D2F4B4D-EA03-41E7-BF26-E17C43196A53}" type="pres">
      <dgm:prSet presAssocID="{56D00F59-67D3-4D86-9B3D-6F5E624EAE27}" presName="sibTrans" presStyleLbl="node1" presStyleIdx="1" presStyleCnt="4"/>
      <dgm:spPr/>
    </dgm:pt>
    <dgm:pt modelId="{61AEDF2A-640B-41E0-AC05-312CAC9F9C75}" type="pres">
      <dgm:prSet presAssocID="{29A1466B-8484-4CD9-BB80-BABECFC7FE1D}" presName="dummy" presStyleCnt="0"/>
      <dgm:spPr/>
    </dgm:pt>
    <dgm:pt modelId="{13959357-F578-4481-8AD0-A2660FD2754D}" type="pres">
      <dgm:prSet presAssocID="{29A1466B-8484-4CD9-BB80-BABECFC7FE1D}" presName="node" presStyleLbl="revTx" presStyleIdx="2" presStyleCnt="4">
        <dgm:presLayoutVars>
          <dgm:bulletEnabled val="1"/>
        </dgm:presLayoutVars>
      </dgm:prSet>
      <dgm:spPr/>
    </dgm:pt>
    <dgm:pt modelId="{4189224A-AF87-4EF3-AEF2-911960BEA4B6}" type="pres">
      <dgm:prSet presAssocID="{1EEB9121-9512-4B7C-9178-84204947D642}" presName="sibTrans" presStyleLbl="node1" presStyleIdx="2" presStyleCnt="4"/>
      <dgm:spPr/>
    </dgm:pt>
    <dgm:pt modelId="{88FA1720-F2F9-41BE-B503-BC0865C76FB9}" type="pres">
      <dgm:prSet presAssocID="{F55D9DDB-783D-4A18-9A0F-D5A10674BCFF}" presName="dummy" presStyleCnt="0"/>
      <dgm:spPr/>
    </dgm:pt>
    <dgm:pt modelId="{F1B9E5E9-8CBD-4994-B438-F6A3647E8C68}" type="pres">
      <dgm:prSet presAssocID="{F55D9DDB-783D-4A18-9A0F-D5A10674BCFF}" presName="node" presStyleLbl="revTx" presStyleIdx="3" presStyleCnt="4">
        <dgm:presLayoutVars>
          <dgm:bulletEnabled val="1"/>
        </dgm:presLayoutVars>
      </dgm:prSet>
      <dgm:spPr/>
    </dgm:pt>
    <dgm:pt modelId="{FE4AAE5B-DCFF-46C4-9889-B55D7ADDFB6D}" type="pres">
      <dgm:prSet presAssocID="{3C45C905-35D6-47F6-A6F7-203755791E53}" presName="sibTrans" presStyleLbl="node1" presStyleIdx="3" presStyleCnt="4"/>
      <dgm:spPr/>
    </dgm:pt>
  </dgm:ptLst>
  <dgm:cxnLst>
    <dgm:cxn modelId="{86BF741B-792F-47F8-BAD5-BD867FFB05A7}" type="presOf" srcId="{3C45C905-35D6-47F6-A6F7-203755791E53}" destId="{FE4AAE5B-DCFF-46C4-9889-B55D7ADDFB6D}" srcOrd="0" destOrd="0" presId="urn:microsoft.com/office/officeart/2005/8/layout/cycle1"/>
    <dgm:cxn modelId="{AB88AA3B-0D1E-46BA-B059-3E5848A1EC4C}" type="presOf" srcId="{65B2F84B-639E-40B3-AE4B-301212641B1D}" destId="{D77E52F2-8D36-41A3-8B82-F9D8BB9ADDBB}" srcOrd="0" destOrd="0" presId="urn:microsoft.com/office/officeart/2005/8/layout/cycle1"/>
    <dgm:cxn modelId="{1584C93F-7D13-4F48-9243-F822F6192B82}" type="presOf" srcId="{1EEB9121-9512-4B7C-9178-84204947D642}" destId="{4189224A-AF87-4EF3-AEF2-911960BEA4B6}" srcOrd="0" destOrd="0" presId="urn:microsoft.com/office/officeart/2005/8/layout/cycle1"/>
    <dgm:cxn modelId="{1184325E-8D38-4A13-9CEC-AE7891F32D22}" type="presOf" srcId="{F55D9DDB-783D-4A18-9A0F-D5A10674BCFF}" destId="{F1B9E5E9-8CBD-4994-B438-F6A3647E8C68}" srcOrd="0" destOrd="0" presId="urn:microsoft.com/office/officeart/2005/8/layout/cycle1"/>
    <dgm:cxn modelId="{D6D78161-68DD-4401-9D66-4B3299C60BB7}" type="presOf" srcId="{5295DECB-FB14-4357-B099-97B1B2F2B232}" destId="{1A24E320-9A09-45F0-8EAB-C513FB3C8C17}" srcOrd="0" destOrd="0" presId="urn:microsoft.com/office/officeart/2005/8/layout/cycle1"/>
    <dgm:cxn modelId="{2F044A43-486E-4DD0-8711-04BC7108472E}" srcId="{65B2F84B-639E-40B3-AE4B-301212641B1D}" destId="{C0CB2402-F6B6-4D81-BC72-93A0671A3316}" srcOrd="0" destOrd="0" parTransId="{6AE90AFC-59FE-4FF3-903E-27056B152E69}" sibTransId="{5295DECB-FB14-4357-B099-97B1B2F2B232}"/>
    <dgm:cxn modelId="{E8178585-B6C9-47DC-98B8-C8E3C456253B}" srcId="{65B2F84B-639E-40B3-AE4B-301212641B1D}" destId="{97F8B4C7-BF84-4E30-902C-1B884DE9C968}" srcOrd="1" destOrd="0" parTransId="{E63A8089-AE4E-4371-BD78-DE41CEE0D5A9}" sibTransId="{56D00F59-67D3-4D86-9B3D-6F5E624EAE27}"/>
    <dgm:cxn modelId="{57CE758A-F128-40EB-8807-4F7210D15B3F}" srcId="{65B2F84B-639E-40B3-AE4B-301212641B1D}" destId="{F55D9DDB-783D-4A18-9A0F-D5A10674BCFF}" srcOrd="3" destOrd="0" parTransId="{E80CA20A-4E59-4736-BA14-B7A23D97C22D}" sibTransId="{3C45C905-35D6-47F6-A6F7-203755791E53}"/>
    <dgm:cxn modelId="{B626D99A-BE73-46E3-9A38-D992ADC8B062}" type="presOf" srcId="{56D00F59-67D3-4D86-9B3D-6F5E624EAE27}" destId="{7D2F4B4D-EA03-41E7-BF26-E17C43196A53}" srcOrd="0" destOrd="0" presId="urn:microsoft.com/office/officeart/2005/8/layout/cycle1"/>
    <dgm:cxn modelId="{D7604EAC-42A8-4263-9124-80CD6A86498C}" type="presOf" srcId="{C0CB2402-F6B6-4D81-BC72-93A0671A3316}" destId="{CA2E4472-B8CC-4B34-9647-838E3B404F5B}" srcOrd="0" destOrd="0" presId="urn:microsoft.com/office/officeart/2005/8/layout/cycle1"/>
    <dgm:cxn modelId="{155219B7-FA21-4A19-9E9C-358115807694}" srcId="{65B2F84B-639E-40B3-AE4B-301212641B1D}" destId="{29A1466B-8484-4CD9-BB80-BABECFC7FE1D}" srcOrd="2" destOrd="0" parTransId="{5592724E-3BBF-4900-881D-3559F3409F8C}" sibTransId="{1EEB9121-9512-4B7C-9178-84204947D642}"/>
    <dgm:cxn modelId="{544028D1-1FDE-470E-9F94-F30618B4C924}" type="presOf" srcId="{29A1466B-8484-4CD9-BB80-BABECFC7FE1D}" destId="{13959357-F578-4481-8AD0-A2660FD2754D}" srcOrd="0" destOrd="0" presId="urn:microsoft.com/office/officeart/2005/8/layout/cycle1"/>
    <dgm:cxn modelId="{C0E1C0D6-B9BD-4105-A7C4-454F0A6DAFFD}" type="presOf" srcId="{97F8B4C7-BF84-4E30-902C-1B884DE9C968}" destId="{A15D172D-621F-402C-AAFB-56AA562FF8AE}" srcOrd="0" destOrd="0" presId="urn:microsoft.com/office/officeart/2005/8/layout/cycle1"/>
    <dgm:cxn modelId="{522A3972-44EE-48CB-8550-C9B5957B42D7}" type="presParOf" srcId="{D77E52F2-8D36-41A3-8B82-F9D8BB9ADDBB}" destId="{D92B18EB-0445-49A8-80E3-81B845A44F6B}" srcOrd="0" destOrd="0" presId="urn:microsoft.com/office/officeart/2005/8/layout/cycle1"/>
    <dgm:cxn modelId="{7F47B2A7-FF1A-48CB-AFC5-5C0B068D2E42}" type="presParOf" srcId="{D77E52F2-8D36-41A3-8B82-F9D8BB9ADDBB}" destId="{CA2E4472-B8CC-4B34-9647-838E3B404F5B}" srcOrd="1" destOrd="0" presId="urn:microsoft.com/office/officeart/2005/8/layout/cycle1"/>
    <dgm:cxn modelId="{8219A54E-157D-4FD2-B291-B5E0CF9AFFCB}" type="presParOf" srcId="{D77E52F2-8D36-41A3-8B82-F9D8BB9ADDBB}" destId="{1A24E320-9A09-45F0-8EAB-C513FB3C8C17}" srcOrd="2" destOrd="0" presId="urn:microsoft.com/office/officeart/2005/8/layout/cycle1"/>
    <dgm:cxn modelId="{CE9985E8-573D-436D-A815-824652DDDC0A}" type="presParOf" srcId="{D77E52F2-8D36-41A3-8B82-F9D8BB9ADDBB}" destId="{DB3D2618-16E0-4517-9A55-21FCB3A8E40B}" srcOrd="3" destOrd="0" presId="urn:microsoft.com/office/officeart/2005/8/layout/cycle1"/>
    <dgm:cxn modelId="{2CF2CBA7-BD79-4053-8B4D-59869F19F40C}" type="presParOf" srcId="{D77E52F2-8D36-41A3-8B82-F9D8BB9ADDBB}" destId="{A15D172D-621F-402C-AAFB-56AA562FF8AE}" srcOrd="4" destOrd="0" presId="urn:microsoft.com/office/officeart/2005/8/layout/cycle1"/>
    <dgm:cxn modelId="{6D539F9B-4186-4EE2-8C2D-254ABB22D04E}" type="presParOf" srcId="{D77E52F2-8D36-41A3-8B82-F9D8BB9ADDBB}" destId="{7D2F4B4D-EA03-41E7-BF26-E17C43196A53}" srcOrd="5" destOrd="0" presId="urn:microsoft.com/office/officeart/2005/8/layout/cycle1"/>
    <dgm:cxn modelId="{728D8D79-7AE8-4E53-9081-022C00D5B2A3}" type="presParOf" srcId="{D77E52F2-8D36-41A3-8B82-F9D8BB9ADDBB}" destId="{61AEDF2A-640B-41E0-AC05-312CAC9F9C75}" srcOrd="6" destOrd="0" presId="urn:microsoft.com/office/officeart/2005/8/layout/cycle1"/>
    <dgm:cxn modelId="{D2850665-FB50-4BD1-96CF-49EE2075F07D}" type="presParOf" srcId="{D77E52F2-8D36-41A3-8B82-F9D8BB9ADDBB}" destId="{13959357-F578-4481-8AD0-A2660FD2754D}" srcOrd="7" destOrd="0" presId="urn:microsoft.com/office/officeart/2005/8/layout/cycle1"/>
    <dgm:cxn modelId="{36EFA89F-749B-497D-A06C-A81E37E08841}" type="presParOf" srcId="{D77E52F2-8D36-41A3-8B82-F9D8BB9ADDBB}" destId="{4189224A-AF87-4EF3-AEF2-911960BEA4B6}" srcOrd="8" destOrd="0" presId="urn:microsoft.com/office/officeart/2005/8/layout/cycle1"/>
    <dgm:cxn modelId="{89A41E56-712B-42A3-9CB5-2DE572039F7A}" type="presParOf" srcId="{D77E52F2-8D36-41A3-8B82-F9D8BB9ADDBB}" destId="{88FA1720-F2F9-41BE-B503-BC0865C76FB9}" srcOrd="9" destOrd="0" presId="urn:microsoft.com/office/officeart/2005/8/layout/cycle1"/>
    <dgm:cxn modelId="{24B3E6F9-EC8E-4245-B64A-95D3ADDEF7D6}" type="presParOf" srcId="{D77E52F2-8D36-41A3-8B82-F9D8BB9ADDBB}" destId="{F1B9E5E9-8CBD-4994-B438-F6A3647E8C68}" srcOrd="10" destOrd="0" presId="urn:microsoft.com/office/officeart/2005/8/layout/cycle1"/>
    <dgm:cxn modelId="{E5BC777F-A39A-47CF-9DCA-96F13E1BF307}" type="presParOf" srcId="{D77E52F2-8D36-41A3-8B82-F9D8BB9ADDBB}" destId="{FE4AAE5B-DCFF-46C4-9889-B55D7ADDFB6D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E4472-B8CC-4B34-9647-838E3B404F5B}">
      <dsp:nvSpPr>
        <dsp:cNvPr id="0" name=""/>
        <dsp:cNvSpPr/>
      </dsp:nvSpPr>
      <dsp:spPr>
        <a:xfrm>
          <a:off x="1234003" y="38353"/>
          <a:ext cx="605987" cy="605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800" kern="1200" noProof="0" dirty="0"/>
        </a:p>
      </dsp:txBody>
      <dsp:txXfrm>
        <a:off x="1234003" y="38353"/>
        <a:ext cx="605987" cy="605987"/>
      </dsp:txXfrm>
    </dsp:sp>
    <dsp:sp modelId="{1A24E320-9A09-45F0-8EAB-C513FB3C8C17}">
      <dsp:nvSpPr>
        <dsp:cNvPr id="0" name=""/>
        <dsp:cNvSpPr/>
      </dsp:nvSpPr>
      <dsp:spPr>
        <a:xfrm>
          <a:off x="166374" y="134"/>
          <a:ext cx="1711835" cy="1711835"/>
        </a:xfrm>
        <a:prstGeom prst="circularArrow">
          <a:avLst>
            <a:gd name="adj1" fmla="val 6903"/>
            <a:gd name="adj2" fmla="val 465424"/>
            <a:gd name="adj3" fmla="val 549110"/>
            <a:gd name="adj4" fmla="val 2058546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D172D-621F-402C-AAFB-56AA562FF8AE}">
      <dsp:nvSpPr>
        <dsp:cNvPr id="0" name=""/>
        <dsp:cNvSpPr/>
      </dsp:nvSpPr>
      <dsp:spPr>
        <a:xfrm>
          <a:off x="1234003" y="1067763"/>
          <a:ext cx="605987" cy="605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800" kern="1200" noProof="0" dirty="0"/>
        </a:p>
      </dsp:txBody>
      <dsp:txXfrm>
        <a:off x="1234003" y="1067763"/>
        <a:ext cx="605987" cy="605987"/>
      </dsp:txXfrm>
    </dsp:sp>
    <dsp:sp modelId="{7D2F4B4D-EA03-41E7-BF26-E17C43196A53}">
      <dsp:nvSpPr>
        <dsp:cNvPr id="0" name=""/>
        <dsp:cNvSpPr/>
      </dsp:nvSpPr>
      <dsp:spPr>
        <a:xfrm>
          <a:off x="166374" y="134"/>
          <a:ext cx="1711835" cy="1711835"/>
        </a:xfrm>
        <a:prstGeom prst="circularArrow">
          <a:avLst>
            <a:gd name="adj1" fmla="val 6903"/>
            <a:gd name="adj2" fmla="val 465424"/>
            <a:gd name="adj3" fmla="val 5949110"/>
            <a:gd name="adj4" fmla="val 438546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59357-F578-4481-8AD0-A2660FD2754D}">
      <dsp:nvSpPr>
        <dsp:cNvPr id="0" name=""/>
        <dsp:cNvSpPr/>
      </dsp:nvSpPr>
      <dsp:spPr>
        <a:xfrm>
          <a:off x="204593" y="1067763"/>
          <a:ext cx="605987" cy="605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800" kern="1200" noProof="0" dirty="0"/>
        </a:p>
      </dsp:txBody>
      <dsp:txXfrm>
        <a:off x="204593" y="1067763"/>
        <a:ext cx="605987" cy="605987"/>
      </dsp:txXfrm>
    </dsp:sp>
    <dsp:sp modelId="{4189224A-AF87-4EF3-AEF2-911960BEA4B6}">
      <dsp:nvSpPr>
        <dsp:cNvPr id="0" name=""/>
        <dsp:cNvSpPr/>
      </dsp:nvSpPr>
      <dsp:spPr>
        <a:xfrm>
          <a:off x="166374" y="134"/>
          <a:ext cx="1711835" cy="1711835"/>
        </a:xfrm>
        <a:prstGeom prst="circularArrow">
          <a:avLst>
            <a:gd name="adj1" fmla="val 6903"/>
            <a:gd name="adj2" fmla="val 465424"/>
            <a:gd name="adj3" fmla="val 11349110"/>
            <a:gd name="adj4" fmla="val 978546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9E5E9-8CBD-4994-B438-F6A3647E8C68}">
      <dsp:nvSpPr>
        <dsp:cNvPr id="0" name=""/>
        <dsp:cNvSpPr/>
      </dsp:nvSpPr>
      <dsp:spPr>
        <a:xfrm>
          <a:off x="204593" y="38353"/>
          <a:ext cx="605987" cy="605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800" kern="1200" noProof="0" dirty="0"/>
        </a:p>
      </dsp:txBody>
      <dsp:txXfrm>
        <a:off x="204593" y="38353"/>
        <a:ext cx="605987" cy="605987"/>
      </dsp:txXfrm>
    </dsp:sp>
    <dsp:sp modelId="{FE4AAE5B-DCFF-46C4-9889-B55D7ADDFB6D}">
      <dsp:nvSpPr>
        <dsp:cNvPr id="0" name=""/>
        <dsp:cNvSpPr/>
      </dsp:nvSpPr>
      <dsp:spPr>
        <a:xfrm>
          <a:off x="166374" y="134"/>
          <a:ext cx="1711835" cy="1711835"/>
        </a:xfrm>
        <a:prstGeom prst="circularArrow">
          <a:avLst>
            <a:gd name="adj1" fmla="val 6903"/>
            <a:gd name="adj2" fmla="val 465424"/>
            <a:gd name="adj3" fmla="val 16749110"/>
            <a:gd name="adj4" fmla="val 1518546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2224" y="1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E14F0-EB87-4A1E-AEC5-BD34ACFD41D5}" type="datetimeFigureOut">
              <a:rPr lang="de-AT" smtClean="0"/>
              <a:t>06.05.2026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7267" y="3271381"/>
            <a:ext cx="789813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93368-FF1B-4D03-AAE3-8B1F23D2C6DE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5064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70175" y="509588"/>
            <a:ext cx="4532313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987267" y="3228896"/>
            <a:ext cx="7898130" cy="3058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66913" y="2655800"/>
            <a:ext cx="77432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9783375" y="6173432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10386991" y="5576535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>
            <a:off x="11857671" y="4444464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11695069" y="6565033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2"/>
          <p:cNvSpPr/>
          <p:nvPr/>
        </p:nvSpPr>
        <p:spPr>
          <a:xfrm>
            <a:off x="3181688" y="677512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2"/>
          <p:cNvSpPr/>
          <p:nvPr/>
        </p:nvSpPr>
        <p:spPr>
          <a:xfrm>
            <a:off x="639280" y="3605307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/>
          <p:nvPr/>
        </p:nvSpPr>
        <p:spPr>
          <a:xfrm>
            <a:off x="348720" y="857463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2"/>
          <p:cNvSpPr/>
          <p:nvPr/>
        </p:nvSpPr>
        <p:spPr>
          <a:xfrm>
            <a:off x="676313" y="1441151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2"/>
          <p:cNvSpPr/>
          <p:nvPr/>
        </p:nvSpPr>
        <p:spPr>
          <a:xfrm>
            <a:off x="11085359" y="4833763"/>
            <a:ext cx="192400" cy="192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2"/>
          <p:cNvSpPr/>
          <p:nvPr/>
        </p:nvSpPr>
        <p:spPr>
          <a:xfrm>
            <a:off x="11843811" y="5582348"/>
            <a:ext cx="192400" cy="192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2"/>
          <p:cNvSpPr/>
          <p:nvPr/>
        </p:nvSpPr>
        <p:spPr>
          <a:xfrm>
            <a:off x="211084" y="2128745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2"/>
          <p:cNvSpPr/>
          <p:nvPr/>
        </p:nvSpPr>
        <p:spPr>
          <a:xfrm>
            <a:off x="1861977" y="301904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2"/>
          <p:cNvSpPr/>
          <p:nvPr/>
        </p:nvSpPr>
        <p:spPr>
          <a:xfrm>
            <a:off x="823323" y="2667459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2"/>
          <p:cNvSpPr/>
          <p:nvPr/>
        </p:nvSpPr>
        <p:spPr>
          <a:xfrm>
            <a:off x="4567031" y="517173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2"/>
          <p:cNvSpPr/>
          <p:nvPr/>
        </p:nvSpPr>
        <p:spPr>
          <a:xfrm>
            <a:off x="10685372" y="6090061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4515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 userDrawn="1"/>
        </p:nvPicPr>
        <p:blipFill rotWithShape="1">
          <a:blip r:embed="rId2">
            <a:alphaModFix/>
          </a:blip>
          <a:srcRect l="19" r="19"/>
          <a:stretch/>
        </p:blipFill>
        <p:spPr>
          <a:xfrm rot="10800000" flipH="1">
            <a:off x="7936" y="0"/>
            <a:ext cx="121874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620400" y="2298200"/>
            <a:ext cx="89512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609585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sz="4800" i="1"/>
            </a:lvl1pPr>
            <a:lvl2pPr marL="1219170" lvl="1" indent="-60958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sz="4800" i="1"/>
            </a:lvl2pPr>
            <a:lvl3pPr marL="1828754" lvl="2" indent="-60958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sz="4800" i="1"/>
            </a:lvl3pPr>
            <a:lvl4pPr marL="2438339" lvl="3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 i="1"/>
            </a:lvl4pPr>
            <a:lvl5pPr marL="3047924" lvl="4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 i="1"/>
            </a:lvl5pPr>
            <a:lvl6pPr marL="3657509" lvl="5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 i="1"/>
            </a:lvl6pPr>
            <a:lvl7pPr marL="4267093" lvl="6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 i="1"/>
            </a:lvl7pPr>
            <a:lvl8pPr marL="4876678" lvl="7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 i="1"/>
            </a:lvl8pPr>
            <a:lvl9pPr marL="5486263" lvl="8" indent="-60958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 i="1"/>
            </a:lvl9pPr>
          </a:lstStyle>
          <a:p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5119529" y="1043892"/>
            <a:ext cx="1952764" cy="1123609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 b="1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80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5000681" y="520396"/>
            <a:ext cx="709600" cy="7140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5817203" y="581500"/>
            <a:ext cx="278800" cy="492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4"/>
          <p:cNvCxnSpPr/>
          <p:nvPr/>
        </p:nvCxnSpPr>
        <p:spPr>
          <a:xfrm rot="10800000" flipH="1">
            <a:off x="6272680" y="469240"/>
            <a:ext cx="462800" cy="632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-116" y="6333125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3965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 preserve="1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◎"/>
              <a:defRPr sz="3200"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4272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7656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3437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 preserve="1">
  <p:cSld name="Blank complete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 userDrawn="1"/>
        </p:nvSpPr>
        <p:spPr>
          <a:xfrm>
            <a:off x="-35400" y="-19800"/>
            <a:ext cx="12262800" cy="68976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524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 preserve="1">
  <p:cSld name="1_Blank complete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6003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nur mit Titel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35AE-0030-DDB6-8A4C-ACA91AFF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CEC64-0C36-8B64-89AE-0CBB066F0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BE4E5-25CB-A0DE-F846-1447CEEF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07C5F-A5DE-6787-D9AB-5F67399D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D982C-49D1-D954-0997-EECC643E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71E8-BE98-4334-83A0-373AB42E75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87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gleic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de-DE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de-DE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de-DE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 indent="0">
              <a:spcBef>
                <a:spcPts val="1200"/>
              </a:spcBef>
              <a:buNone/>
              <a:defRPr lang="de-DE" sz="1600"/>
            </a:lvl2pPr>
            <a:lvl3pPr marL="914400" indent="0">
              <a:spcBef>
                <a:spcPts val="1200"/>
              </a:spcBef>
              <a:buNone/>
              <a:defRPr lang="de-DE" sz="1400"/>
            </a:lvl3pPr>
            <a:lvl4pPr marL="1371600" indent="0">
              <a:spcBef>
                <a:spcPts val="1200"/>
              </a:spcBef>
              <a:buNone/>
              <a:defRPr lang="de-DE" sz="1200"/>
            </a:lvl4pPr>
            <a:lvl5pPr marL="1828800" indent="0">
              <a:spcBef>
                <a:spcPts val="1200"/>
              </a:spcBef>
              <a:buNone/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600"/>
            </a:lvl2pPr>
            <a:lvl3pPr>
              <a:spcBef>
                <a:spcPts val="1200"/>
              </a:spcBef>
              <a:defRPr lang="de-DE" sz="1400"/>
            </a:lvl3pPr>
            <a:lvl4pPr>
              <a:spcBef>
                <a:spcPts val="1200"/>
              </a:spcBef>
              <a:defRPr lang="de-DE" sz="1200"/>
            </a:lvl4pPr>
            <a:lvl5pPr>
              <a:spcBef>
                <a:spcPts val="1200"/>
              </a:spcBef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752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9E982-D596-F709-CE84-6AEBA98E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179300-32FD-9BE9-583B-AB12ADB71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C81A22-2522-B590-9B7D-16B3FE17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E23717-D9EF-824D-FD98-9BE27DB3A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71E8-BE98-4334-83A0-373AB42E75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450078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0997759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8" r:id="rId10"/>
    <p:sldLayoutId id="2147483664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5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diagramData" Target="../diagrams/data1.xml"/><Relationship Id="rId5" Type="http://schemas.openxmlformats.org/officeDocument/2006/relationships/image" Target="../media/image27.png"/><Relationship Id="rId10" Type="http://schemas.microsoft.com/office/2007/relationships/diagramDrawing" Target="../diagrams/drawing1.xml"/><Relationship Id="rId4" Type="http://schemas.openxmlformats.org/officeDocument/2006/relationships/image" Target="../media/image26.png"/><Relationship Id="rId9" Type="http://schemas.openxmlformats.org/officeDocument/2006/relationships/diagramColors" Target="../diagrams/colors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europa-multisites.s3.eu-west-1.amazonaws.com/www.eiopa.europa.eu/assets/insurance-overview-report/European_Insurance_Overview_2025.html" TargetMode="External"/><Relationship Id="rId2" Type="http://schemas.openxmlformats.org/officeDocument/2006/relationships/hyperlink" Target="https://www.fma.gv.at/pensionskassen/offenlegung/quartalsberichte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hyperlink" Target="https://github.com/smalldatascience/Seminar_Kursunterlagen/tree/main/Modul_5/Markdown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nti.com/alp4kkxc4kw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257576" y="2118610"/>
            <a:ext cx="10844483" cy="318286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de-DE" sz="3600" noProof="0" dirty="0"/>
              <a:t>Moderne Datenanalyse mit R: </a:t>
            </a:r>
            <a:br>
              <a:rPr lang="de-DE" sz="3600" noProof="0" dirty="0"/>
            </a:br>
            <a:r>
              <a:rPr lang="de-DE" sz="3600" noProof="0" dirty="0"/>
              <a:t>Ein Einstieg für Aktuare</a:t>
            </a:r>
            <a:br>
              <a:rPr lang="de-DE" sz="3600" noProof="0" dirty="0"/>
            </a:br>
            <a:br>
              <a:rPr lang="de-DE" sz="3600" noProof="0" dirty="0"/>
            </a:br>
            <a:r>
              <a:rPr lang="de-DE" sz="2000" noProof="0" dirty="0"/>
              <a:t>Modul V: Automatisierung</a:t>
            </a:r>
            <a:br>
              <a:rPr lang="de-DE" sz="2000" noProof="0" dirty="0"/>
            </a:br>
            <a:br>
              <a:rPr lang="de-DE" sz="3600" noProof="0" dirty="0"/>
            </a:br>
            <a:r>
              <a:rPr lang="de-DE" sz="1800" noProof="0" dirty="0"/>
              <a:t>Seminarreihe der </a:t>
            </a:r>
            <a:r>
              <a:rPr lang="de-DE" sz="1800" noProof="0" dirty="0" err="1"/>
              <a:t>ÖFdV</a:t>
            </a:r>
            <a:br>
              <a:rPr lang="de-DE" sz="1800" noProof="0" dirty="0"/>
            </a:br>
            <a:r>
              <a:rPr lang="de-DE" sz="1800" noProof="0" dirty="0"/>
              <a:t>Dietmar Hareter, Fabian Pribahsnik</a:t>
            </a:r>
            <a:endParaRPr lang="de-DE" sz="2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9122-9227-D49E-C1EA-516B5507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de-DE" noProof="0" dirty="0"/>
              <a:t>Wir starten in Kürze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2A3C9-1FA0-474E-847F-395E7ABB1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631A-638F-9FB8-3E17-BB771598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71E8-BE98-4334-83A0-373AB42E75F5}" type="slidenum">
              <a:rPr lang="de-DE" noProof="0" smtClean="0"/>
              <a:t>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39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6296-ADDA-1B3F-67E4-E628BBCA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D46BC-8569-485F-9285-19B5D917F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noProof="0" dirty="0"/>
          </a:p>
          <a:p>
            <a:r>
              <a:rPr lang="de-DE" noProof="0" dirty="0"/>
              <a:t>Bausteine eines Projekts</a:t>
            </a:r>
          </a:p>
          <a:p>
            <a:r>
              <a:rPr lang="de-DE" noProof="0" dirty="0"/>
              <a:t>Aufgabenplanung in Windows</a:t>
            </a:r>
          </a:p>
          <a:p>
            <a:r>
              <a:rPr lang="de-DE" noProof="0" dirty="0"/>
              <a:t>Beispielprojekte (FMA, EIOPA)</a:t>
            </a:r>
          </a:p>
          <a:p>
            <a:r>
              <a:rPr lang="de-DE" noProof="0" dirty="0"/>
              <a:t>Einen Bericht bauen</a:t>
            </a:r>
          </a:p>
          <a:p>
            <a:r>
              <a:rPr lang="de-DE" noProof="0" dirty="0"/>
              <a:t>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7296B-427E-DFF5-65E7-D0CAC3EC23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147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data.table package in R. Wat is het en hoe werkt het?">
            <a:extLst>
              <a:ext uri="{FF2B5EF4-FFF2-40B4-BE49-F238E27FC236}">
                <a16:creationId xmlns:a16="http://schemas.microsoft.com/office/drawing/2014/main" id="{C49EC60F-8837-8509-E1EC-BB3EF395B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338" y="2948735"/>
            <a:ext cx="2759867" cy="14788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19F39D-352C-2ABF-0E3C-1C950E6B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Bausteine eines Projekts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4B5F-4BE6-5E63-401B-E8695832C9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4</a:t>
            </a:fld>
            <a:endParaRPr lang="de-DE" noProof="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5E69904-3F06-B241-C93A-558203CBD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09" y="2774910"/>
            <a:ext cx="1382140" cy="57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886CA790-6D70-6F07-894F-542E0967E3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15" y="3638441"/>
            <a:ext cx="1857477" cy="4241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1CF50F-55C2-B92D-937F-8C8A08D94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1180" y="3351882"/>
            <a:ext cx="720000" cy="7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7BD16A-1382-EB75-9F1C-68BA92FE9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206" y="2427637"/>
            <a:ext cx="720000" cy="7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5667D5-9AA5-4ED6-A969-D9CB26B00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512" y="3358933"/>
            <a:ext cx="720000" cy="7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742251-89F8-65A2-06C8-9438FABEC5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4404" y="2427611"/>
            <a:ext cx="720000" cy="7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B070CD-CBFB-23BC-6F52-DC310686EA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649" y="2393082"/>
            <a:ext cx="1035918" cy="1035918"/>
          </a:xfrm>
          <a:prstGeom prst="rect">
            <a:avLst/>
          </a:prstGeom>
        </p:spPr>
      </p:pic>
      <p:pic>
        <p:nvPicPr>
          <p:cNvPr id="17" name="Picture 16" descr="Datei:RStudio logo flat.svg">
            <a:extLst>
              <a:ext uri="{FF2B5EF4-FFF2-40B4-BE49-F238E27FC236}">
                <a16:creationId xmlns:a16="http://schemas.microsoft.com/office/drawing/2014/main" id="{D235D0D1-CFFD-6F28-FA33-93F82E786E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4819" y="3500603"/>
            <a:ext cx="1805354" cy="633754"/>
          </a:xfrm>
          <a:prstGeom prst="rect">
            <a:avLst/>
          </a:prstGeom>
        </p:spPr>
      </p:pic>
      <p:pic>
        <p:nvPicPr>
          <p:cNvPr id="18" name="Picture 17" descr="task-scheduler-icon - SnowMirror">
            <a:extLst>
              <a:ext uri="{FF2B5EF4-FFF2-40B4-BE49-F238E27FC236}">
                <a16:creationId xmlns:a16="http://schemas.microsoft.com/office/drawing/2014/main" id="{BD951085-AE00-ECE8-1DF6-AC18A06CFF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3436" y="2756878"/>
            <a:ext cx="877277" cy="877277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878D9B6-6C94-B8E7-1F84-367694B4A2AA}"/>
              </a:ext>
            </a:extLst>
          </p:cNvPr>
          <p:cNvSpPr/>
          <p:nvPr/>
        </p:nvSpPr>
        <p:spPr>
          <a:xfrm>
            <a:off x="614715" y="4599503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Reproduzierbarkeit</a:t>
            </a:r>
            <a:endParaRPr lang="de-DE" sz="1300" noProof="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3A3F4A-AE42-C969-DE48-3F4B1F3CC803}"/>
              </a:ext>
            </a:extLst>
          </p:cNvPr>
          <p:cNvSpPr/>
          <p:nvPr/>
        </p:nvSpPr>
        <p:spPr>
          <a:xfrm>
            <a:off x="2866870" y="4599503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Coding / Exploration</a:t>
            </a:r>
            <a:endParaRPr lang="de-DE" sz="1300" noProof="0" dirty="0"/>
          </a:p>
        </p:txBody>
      </p:sp>
      <p:pic>
        <p:nvPicPr>
          <p:cNvPr id="22" name="Picture 21" descr="5 Das tidyverse-Paket – Data Science 1">
            <a:extLst>
              <a:ext uri="{FF2B5EF4-FFF2-40B4-BE49-F238E27FC236}">
                <a16:creationId xmlns:a16="http://schemas.microsoft.com/office/drawing/2014/main" id="{16AF93C5-989B-7717-EB54-487D1EC4A9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1225" y="2204782"/>
            <a:ext cx="2291081" cy="1122845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D01CD28-B84F-4EC0-5834-27A392B07F79}"/>
              </a:ext>
            </a:extLst>
          </p:cNvPr>
          <p:cNvSpPr/>
          <p:nvPr/>
        </p:nvSpPr>
        <p:spPr>
          <a:xfrm>
            <a:off x="5119025" y="4599503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Datenanalyse / </a:t>
            </a:r>
            <a:br>
              <a:rPr lang="de-DE" sz="1300" b="1" noProof="0" dirty="0"/>
            </a:br>
            <a:r>
              <a:rPr lang="de-DE" sz="1300" b="1" noProof="0" dirty="0"/>
              <a:t>Visualisierungen</a:t>
            </a:r>
            <a:endParaRPr lang="de-DE" sz="1300" noProof="0" dirty="0"/>
          </a:p>
        </p:txBody>
      </p:sp>
      <p:pic>
        <p:nvPicPr>
          <p:cNvPr id="25" name="Picture 24" descr="File:Ggplot2 hex logo.svg">
            <a:extLst>
              <a:ext uri="{FF2B5EF4-FFF2-40B4-BE49-F238E27FC236}">
                <a16:creationId xmlns:a16="http://schemas.microsoft.com/office/drawing/2014/main" id="{BD74DAF3-3E07-EB7A-5A6A-806FD500E3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8864" y="3147611"/>
            <a:ext cx="918090" cy="1060585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210699-BCBB-A1CE-60D4-8113913150A5}"/>
              </a:ext>
            </a:extLst>
          </p:cNvPr>
          <p:cNvSpPr/>
          <p:nvPr/>
        </p:nvSpPr>
        <p:spPr>
          <a:xfrm>
            <a:off x="7371180" y="4599503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Ausgabe</a:t>
            </a:r>
            <a:endParaRPr lang="de-DE" sz="1300" noProof="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F374EA-1F68-CF36-93E5-502DE2616D17}"/>
              </a:ext>
            </a:extLst>
          </p:cNvPr>
          <p:cNvSpPr/>
          <p:nvPr/>
        </p:nvSpPr>
        <p:spPr>
          <a:xfrm>
            <a:off x="9623337" y="4599503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Automatisierung</a:t>
            </a:r>
            <a:endParaRPr lang="de-DE" sz="1300" noProof="0" dirty="0"/>
          </a:p>
        </p:txBody>
      </p:sp>
    </p:spTree>
    <p:extLst>
      <p:ext uri="{BB962C8B-B14F-4D97-AF65-F5344CB8AC3E}">
        <p14:creationId xmlns:p14="http://schemas.microsoft.com/office/powerpoint/2010/main" val="3180815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384E-2910-C97E-9033-7BB710DBC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in Windows (Task Scheduler)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1EC58-F390-A868-AD31-97BC7E200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noProof="0" dirty="0"/>
              <a:t>Systemtool in Windows</a:t>
            </a:r>
          </a:p>
          <a:p>
            <a:r>
              <a:rPr lang="de-DE" noProof="0" dirty="0"/>
              <a:t>Ermöglicht Programme / Skripte automatisch auszuführen </a:t>
            </a:r>
            <a:r>
              <a:rPr lang="de-DE" sz="1600" b="1" noProof="0" dirty="0"/>
              <a:t>(IT informieren!) </a:t>
            </a:r>
          </a:p>
          <a:p>
            <a:pPr lvl="1"/>
            <a:r>
              <a:rPr lang="de-DE" noProof="0" dirty="0"/>
              <a:t>Bestimmter Zeitpunkt</a:t>
            </a:r>
          </a:p>
          <a:p>
            <a:pPr lvl="1"/>
            <a:r>
              <a:rPr lang="de-DE" noProof="0" dirty="0"/>
              <a:t>Bestimmtes Ereignis</a:t>
            </a:r>
          </a:p>
          <a:p>
            <a:r>
              <a:rPr lang="de-DE" noProof="0" dirty="0"/>
              <a:t>Aufgaben werden im Hintergrund abgearbeitet</a:t>
            </a:r>
          </a:p>
          <a:p>
            <a:r>
              <a:rPr lang="de-DE" noProof="0" dirty="0"/>
              <a:t>Protokollierung / </a:t>
            </a:r>
            <a:r>
              <a:rPr lang="de-DE" noProof="0" dirty="0" err="1"/>
              <a:t>Logging</a:t>
            </a:r>
            <a:r>
              <a:rPr lang="de-DE" noProof="0" dirty="0"/>
              <a:t> für Fehlersuche möglich</a:t>
            </a:r>
          </a:p>
          <a:p>
            <a:r>
              <a:rPr lang="de-DE" noProof="0" dirty="0"/>
              <a:t>Windows + R-Taste; </a:t>
            </a:r>
            <a:r>
              <a:rPr lang="de-DE" noProof="0" dirty="0" err="1"/>
              <a:t>taskschd.msc</a:t>
            </a:r>
            <a:r>
              <a:rPr lang="de-DE" noProof="0" dirty="0"/>
              <a:t> eingeben &amp; 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54F20-EB63-1700-5DA9-622A862F7D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5256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A9C5-7900-D92F-582F-7D67A395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- Konfigurationsmöglichkeiten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12749-EC31-4B25-CCBB-662ED395E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noProof="0" dirty="0"/>
              <a:t>Trigger</a:t>
            </a:r>
          </a:p>
          <a:p>
            <a:pPr lvl="1"/>
            <a:r>
              <a:rPr lang="de-DE" noProof="0" dirty="0"/>
              <a:t>Arbeitsplatzsperre, Beim Start, Bei Anmeldung, Zeitplan, …</a:t>
            </a:r>
          </a:p>
          <a:p>
            <a:r>
              <a:rPr lang="de-DE" noProof="0" dirty="0"/>
              <a:t>Bedingungen:</a:t>
            </a:r>
          </a:p>
          <a:p>
            <a:pPr lvl="1"/>
            <a:r>
              <a:rPr lang="de-DE" noProof="0" dirty="0"/>
              <a:t>Aufgabe nur starten wenn: Netzbetrieb, Netzwerkverbindung vorhanden, Computer im Leerlauf für x Minuten, …</a:t>
            </a:r>
          </a:p>
          <a:p>
            <a:r>
              <a:rPr lang="de-DE" noProof="0" dirty="0"/>
              <a:t>Einstellungen:</a:t>
            </a:r>
          </a:p>
          <a:p>
            <a:pPr lvl="1"/>
            <a:r>
              <a:rPr lang="de-DE" noProof="0" dirty="0"/>
              <a:t>Aufgabe so schnell wie möglich nachholen nach verpasstem Start</a:t>
            </a:r>
          </a:p>
          <a:p>
            <a:pPr lvl="1"/>
            <a:r>
              <a:rPr lang="de-DE" noProof="0" dirty="0"/>
              <a:t>Aufgabe beenden falls Ausführung länger dauert als x Stunden</a:t>
            </a:r>
          </a:p>
          <a:p>
            <a:pPr lvl="1"/>
            <a:r>
              <a:rPr lang="de-DE" noProof="0" dirty="0"/>
              <a:t>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0B8DF-C1B4-8995-4AD9-698A691CEE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83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DC57-A677-6C31-AFF7-2A42BB1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– Einfache Aufgabe</a:t>
            </a:r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05626-E740-0836-D441-727D21ED93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7</a:t>
            </a:fld>
            <a:endParaRPr lang="de-D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D483B-9967-1AD4-8187-98BA71707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11" y="1347627"/>
            <a:ext cx="8659272" cy="517573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30C84E-B887-DD36-8D30-A989316C643E}"/>
              </a:ext>
            </a:extLst>
          </p:cNvPr>
          <p:cNvSpPr/>
          <p:nvPr/>
        </p:nvSpPr>
        <p:spPr>
          <a:xfrm>
            <a:off x="7777246" y="2344616"/>
            <a:ext cx="1857477" cy="3595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</p:spTree>
    <p:extLst>
      <p:ext uri="{BB962C8B-B14F-4D97-AF65-F5344CB8AC3E}">
        <p14:creationId xmlns:p14="http://schemas.microsoft.com/office/powerpoint/2010/main" val="337171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1BFE-CD5A-263B-2D63-42798F4A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C910-0608-58CB-1E0A-569875CF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– Einfache Aufgabe</a:t>
            </a:r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79064-A119-333B-0674-3C914FA12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8</a:t>
            </a:fld>
            <a:endParaRPr lang="de-DE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E8792-3162-1EB0-C587-AD51739D1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4" y="1681773"/>
            <a:ext cx="4991054" cy="349445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9E3EFD-CFD4-855E-14E1-FB9B27199D69}"/>
              </a:ext>
            </a:extLst>
          </p:cNvPr>
          <p:cNvSpPr/>
          <p:nvPr/>
        </p:nvSpPr>
        <p:spPr>
          <a:xfrm>
            <a:off x="2163029" y="2725615"/>
            <a:ext cx="1674325" cy="4786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C9390D-401E-8E40-FD84-420A4834F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530" y="1681773"/>
            <a:ext cx="4998215" cy="3494454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31E090-4E72-89E1-20A9-FE7067851363}"/>
              </a:ext>
            </a:extLst>
          </p:cNvPr>
          <p:cNvSpPr/>
          <p:nvPr/>
        </p:nvSpPr>
        <p:spPr>
          <a:xfrm>
            <a:off x="7684598" y="2954215"/>
            <a:ext cx="1674325" cy="19538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2EBEED-14AB-6D40-151B-5FC899F6DFA5}"/>
              </a:ext>
            </a:extLst>
          </p:cNvPr>
          <p:cNvCxnSpPr/>
          <p:nvPr/>
        </p:nvCxnSpPr>
        <p:spPr>
          <a:xfrm flipH="1">
            <a:off x="805923" y="2055446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FB57A6-F5FF-8E12-490C-0B3D449EC0EE}"/>
              </a:ext>
            </a:extLst>
          </p:cNvPr>
          <p:cNvCxnSpPr/>
          <p:nvPr/>
        </p:nvCxnSpPr>
        <p:spPr>
          <a:xfrm flipH="1">
            <a:off x="6671369" y="2215661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59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A4244-AE12-B199-9513-1E1171EF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7ABDC9-562E-A1B8-C485-7CEEC31B5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30" y="1681773"/>
            <a:ext cx="5010642" cy="3494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6A51E3-8324-E222-193F-64B2EC780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73" y="1681773"/>
            <a:ext cx="4996203" cy="34944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9CCA3B-1432-B26B-02C7-E1123FC3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– Einfache Aufgabe</a:t>
            </a:r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C8404-FB00-8F5F-E897-9FE8AC9359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9</a:t>
            </a:fld>
            <a:endParaRPr lang="de-DE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E1001D-FB5E-01F7-8C30-B1F7B0DE0262}"/>
              </a:ext>
            </a:extLst>
          </p:cNvPr>
          <p:cNvSpPr/>
          <p:nvPr/>
        </p:nvSpPr>
        <p:spPr>
          <a:xfrm>
            <a:off x="1915431" y="2375876"/>
            <a:ext cx="3714345" cy="7737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2AEF8C-0B5B-51A4-5FA9-9D7A7538E4C0}"/>
              </a:ext>
            </a:extLst>
          </p:cNvPr>
          <p:cNvSpPr/>
          <p:nvPr/>
        </p:nvSpPr>
        <p:spPr>
          <a:xfrm>
            <a:off x="7559552" y="2856522"/>
            <a:ext cx="1674325" cy="19538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98E9F5-D5E5-32C1-C73B-581A1C699F3C}"/>
              </a:ext>
            </a:extLst>
          </p:cNvPr>
          <p:cNvCxnSpPr/>
          <p:nvPr/>
        </p:nvCxnSpPr>
        <p:spPr>
          <a:xfrm flipH="1">
            <a:off x="1048200" y="2375876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552340-15A1-6312-3680-ADA0FB6A9A78}"/>
              </a:ext>
            </a:extLst>
          </p:cNvPr>
          <p:cNvCxnSpPr/>
          <p:nvPr/>
        </p:nvCxnSpPr>
        <p:spPr>
          <a:xfrm flipH="1">
            <a:off x="6530692" y="2536091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47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4F36-B321-1D9F-53E9-D152312D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3B4FEBB-F698-8B30-52EE-137B4E599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413" y="1681773"/>
            <a:ext cx="4986025" cy="3500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EAE93E-4CC4-635C-3678-5CA26AE69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39" y="1681773"/>
            <a:ext cx="5010642" cy="35009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BE42EF-A396-25B6-4672-73B217F1A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– Einfache Aufgabe</a:t>
            </a:r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85940-3DF6-5AD0-F708-6236E2DFC9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10</a:t>
            </a:fld>
            <a:endParaRPr lang="de-DE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1D6A4C-CD94-8BC1-BE2B-CAC8247C34A1}"/>
              </a:ext>
            </a:extLst>
          </p:cNvPr>
          <p:cNvCxnSpPr/>
          <p:nvPr/>
        </p:nvCxnSpPr>
        <p:spPr>
          <a:xfrm flipH="1">
            <a:off x="1363791" y="2696306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FA9B97-1A9C-84DB-E1A6-0B9339646E28}"/>
              </a:ext>
            </a:extLst>
          </p:cNvPr>
          <p:cNvCxnSpPr/>
          <p:nvPr/>
        </p:nvCxnSpPr>
        <p:spPr>
          <a:xfrm flipH="1">
            <a:off x="6910281" y="2844800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CC2F08-3129-BFD1-157A-45B7CB547AF8}"/>
              </a:ext>
            </a:extLst>
          </p:cNvPr>
          <p:cNvSpPr txBox="1"/>
          <p:nvPr/>
        </p:nvSpPr>
        <p:spPr>
          <a:xfrm>
            <a:off x="3274644" y="2173086"/>
            <a:ext cx="2688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noProof="0" dirty="0">
                <a:solidFill>
                  <a:srgbClr val="FF0000"/>
                </a:solidFill>
              </a:rPr>
              <a:t>   Pfad der R Installation </a:t>
            </a:r>
            <a:br>
              <a:rPr lang="de-DE" sz="1400" b="1" noProof="0" dirty="0">
                <a:solidFill>
                  <a:srgbClr val="FF0000"/>
                </a:solidFill>
              </a:rPr>
            </a:br>
            <a:r>
              <a:rPr lang="de-DE" sz="1400" b="1" noProof="0" dirty="0">
                <a:solidFill>
                  <a:srgbClr val="FF0000"/>
                </a:solidFill>
              </a:rPr>
              <a:t>+ Pfad zu Skript</a:t>
            </a:r>
          </a:p>
        </p:txBody>
      </p:sp>
    </p:spTree>
    <p:extLst>
      <p:ext uri="{BB962C8B-B14F-4D97-AF65-F5344CB8AC3E}">
        <p14:creationId xmlns:p14="http://schemas.microsoft.com/office/powerpoint/2010/main" val="4166862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D58E-B0D2-000D-B51F-8A54C6B8F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Automatisierung mit R: </a:t>
            </a:r>
            <a:r>
              <a:rPr lang="de-DE" sz="3200" noProof="0" dirty="0" err="1"/>
              <a:t>taskscheduleR</a:t>
            </a:r>
            <a:endParaRPr lang="de-DE" sz="3200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35F67-513C-46F9-CDB6-7643EBF48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de-DE" sz="2400" noProof="0" dirty="0"/>
              <a:t>R bietet mit dem Paket </a:t>
            </a:r>
            <a:r>
              <a:rPr lang="de-DE" sz="2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taskscheduleR</a:t>
            </a:r>
            <a:r>
              <a:rPr lang="de-DE" sz="2400" noProof="0" dirty="0"/>
              <a:t> eine Schnittstelle zur Steuerung der Aufgabenplanung in Windows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Nicht alle Einstellungsmöglichkeiten sind über die Schnittstelle verfügbar:</a:t>
            </a:r>
          </a:p>
          <a:p>
            <a:pPr lvl="1"/>
            <a:r>
              <a:rPr lang="de-DE" sz="1800" noProof="0" dirty="0"/>
              <a:t>Trigger / Intervall: (Logon, Idle, Einmalig, Täglich, wöchentlich, monatlich)</a:t>
            </a:r>
          </a:p>
          <a:p>
            <a:pPr lvl="1"/>
            <a:r>
              <a:rPr lang="de-DE" sz="1800" noProof="0" dirty="0"/>
              <a:t>Keine Bedingungen für Netzbetrieb, Netzwerkverbindung, …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Log-Datei wird automatisch angelegt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Absolute Pfade innerhalb des R-Skripts setzen </a:t>
            </a:r>
          </a:p>
          <a:p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BC260-0753-E813-0410-74F7C7B47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3052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122F-6770-6277-B578-71017423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 err="1"/>
              <a:t>taskscheduleR</a:t>
            </a:r>
            <a:endParaRPr lang="de-DE" sz="3200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515CC-FB0E-11F9-D028-FD2AED839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de-DE" sz="2400" noProof="0" dirty="0"/>
              <a:t>Paket installieren: </a:t>
            </a:r>
            <a:r>
              <a:rPr lang="de-DE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</a:t>
            </a:r>
            <a:r>
              <a:rPr lang="de-DE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(„</a:t>
            </a:r>
            <a:r>
              <a:rPr lang="de-DE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taskscheduleR</a:t>
            </a:r>
            <a:r>
              <a:rPr lang="de-DE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“)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2400"/>
              </a:spcBef>
            </a:pPr>
            <a:r>
              <a:rPr lang="de-DE" sz="2400" noProof="0" dirty="0"/>
              <a:t>R-Skript schreiben und lokal speichern.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Zeitplan festlegen (täglich, stündlich, etc.)</a:t>
            </a:r>
          </a:p>
          <a:p>
            <a:pPr>
              <a:spcBef>
                <a:spcPts val="2400"/>
              </a:spcBef>
            </a:pPr>
            <a:r>
              <a:rPr lang="de-DE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taskscheduleR</a:t>
            </a:r>
            <a:r>
              <a:rPr lang="de-DE" sz="2400" noProof="0" dirty="0"/>
              <a:t> übergibt den Befehl an Windows und legt eine neue Aufgabe an.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Windows startet R im Hintergrund und führt das Skript aus.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E70CE-3D00-7195-5D6C-E3BC418A58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1001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921208-4899-89DB-8184-F6B04E06D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355" y="3515470"/>
            <a:ext cx="3497031" cy="315747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BEA694-8902-EFDB-ADAB-0D9A895E76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13</a:t>
            </a:fld>
            <a:endParaRPr lang="de-DE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74E6D9-EC8C-7EB4-454E-98EBA86709F6}"/>
              </a:ext>
            </a:extLst>
          </p:cNvPr>
          <p:cNvGrpSpPr>
            <a:grpSpLocks noChangeAspect="1"/>
          </p:cNvGrpSpPr>
          <p:nvPr/>
        </p:nvGrpSpPr>
        <p:grpSpPr>
          <a:xfrm>
            <a:off x="7521356" y="217209"/>
            <a:ext cx="3497031" cy="2975581"/>
            <a:chOff x="0" y="0"/>
            <a:chExt cx="4325773" cy="36807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17AF1A-7191-07F7-144B-9397D92E7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325773" cy="3680747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15859656-9D9A-45B0-8E83-47512A512FB4}"/>
                </a:ext>
              </a:extLst>
            </p:cNvPr>
            <p:cNvSpPr/>
            <p:nvPr/>
          </p:nvSpPr>
          <p:spPr>
            <a:xfrm rot="8865665">
              <a:off x="1618891" y="2667"/>
              <a:ext cx="1479728" cy="459206"/>
            </a:xfrm>
            <a:prstGeom prst="arc">
              <a:avLst>
                <a:gd name="adj1" fmla="val 15180362"/>
                <a:gd name="adj2" fmla="val 21479004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noProof="0" dirty="0">
                <a:solidFill>
                  <a:srgbClr val="FF0000"/>
                </a:solidFill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1B771243-E6F3-1E7A-C2DA-F9AA3DE47DEC}"/>
                </a:ext>
              </a:extLst>
            </p:cNvPr>
            <p:cNvSpPr/>
            <p:nvPr/>
          </p:nvSpPr>
          <p:spPr>
            <a:xfrm rot="8865665">
              <a:off x="1618891" y="3164012"/>
              <a:ext cx="1479728" cy="459206"/>
            </a:xfrm>
            <a:prstGeom prst="arc">
              <a:avLst>
                <a:gd name="adj1" fmla="val 15180362"/>
                <a:gd name="adj2" fmla="val 21479004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sp>
        <p:nvSpPr>
          <p:cNvPr id="11" name="Arc 10">
            <a:extLst>
              <a:ext uri="{FF2B5EF4-FFF2-40B4-BE49-F238E27FC236}">
                <a16:creationId xmlns:a16="http://schemas.microsoft.com/office/drawing/2014/main" id="{5420B125-986C-DDDB-17C2-9D6CA59E4009}"/>
              </a:ext>
            </a:extLst>
          </p:cNvPr>
          <p:cNvSpPr/>
          <p:nvPr/>
        </p:nvSpPr>
        <p:spPr>
          <a:xfrm rot="8865665">
            <a:off x="7287324" y="3825247"/>
            <a:ext cx="1283522" cy="398317"/>
          </a:xfrm>
          <a:prstGeom prst="arc">
            <a:avLst>
              <a:gd name="adj1" fmla="val 15180362"/>
              <a:gd name="adj2" fmla="val 21479004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954F74A-E1DB-637F-70FE-183F96E62E24}"/>
              </a:ext>
            </a:extLst>
          </p:cNvPr>
          <p:cNvSpPr/>
          <p:nvPr/>
        </p:nvSpPr>
        <p:spPr>
          <a:xfrm rot="8865665">
            <a:off x="8507967" y="5962980"/>
            <a:ext cx="1283522" cy="398317"/>
          </a:xfrm>
          <a:prstGeom prst="arc">
            <a:avLst>
              <a:gd name="adj1" fmla="val 15180362"/>
              <a:gd name="adj2" fmla="val 21479004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6F9E457-F33D-6DFA-420C-8061AC136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67" y="4431238"/>
            <a:ext cx="6118995" cy="187415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15DCE16-419C-9FFC-C099-7EB6F1F7726B}"/>
              </a:ext>
            </a:extLst>
          </p:cNvPr>
          <p:cNvGrpSpPr/>
          <p:nvPr/>
        </p:nvGrpSpPr>
        <p:grpSpPr>
          <a:xfrm>
            <a:off x="369454" y="826485"/>
            <a:ext cx="5726546" cy="2749591"/>
            <a:chOff x="369454" y="267323"/>
            <a:chExt cx="5726546" cy="274959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B7A7613-7169-533B-E30C-E38195108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868" y="462058"/>
              <a:ext cx="5530132" cy="255485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D3A22E3-1EDA-3254-2224-EAE556D6F3FD}"/>
                </a:ext>
              </a:extLst>
            </p:cNvPr>
            <p:cNvSpPr txBox="1"/>
            <p:nvPr/>
          </p:nvSpPr>
          <p:spPr>
            <a:xfrm>
              <a:off x="369454" y="267323"/>
              <a:ext cx="526473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3000" b="1" noProof="0" dirty="0">
                  <a:solidFill>
                    <a:srgbClr val="0091EA"/>
                  </a:solidFill>
                </a:rPr>
                <a:t>1.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15D8E5A-6818-93FA-DDA4-E86729EC8BCD}"/>
              </a:ext>
            </a:extLst>
          </p:cNvPr>
          <p:cNvSpPr txBox="1"/>
          <p:nvPr/>
        </p:nvSpPr>
        <p:spPr>
          <a:xfrm>
            <a:off x="7444780" y="185059"/>
            <a:ext cx="52647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3000" b="1" noProof="0" dirty="0">
                <a:solidFill>
                  <a:srgbClr val="0091EA"/>
                </a:solidFill>
              </a:rPr>
              <a:t>2.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3EBBFE-9F92-E3E8-1C5D-EC79D3CE1EB9}"/>
              </a:ext>
            </a:extLst>
          </p:cNvPr>
          <p:cNvSpPr txBox="1"/>
          <p:nvPr/>
        </p:nvSpPr>
        <p:spPr>
          <a:xfrm>
            <a:off x="7507667" y="3299077"/>
            <a:ext cx="52647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3000" b="1" noProof="0" dirty="0">
                <a:solidFill>
                  <a:srgbClr val="0091EA"/>
                </a:solidFill>
              </a:rPr>
              <a:t>3.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816BC-4B86-1A01-464B-727C8E0BD149}"/>
              </a:ext>
            </a:extLst>
          </p:cNvPr>
          <p:cNvSpPr txBox="1"/>
          <p:nvPr/>
        </p:nvSpPr>
        <p:spPr>
          <a:xfrm>
            <a:off x="369454" y="4258115"/>
            <a:ext cx="52647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3000" b="1" noProof="0" dirty="0">
                <a:solidFill>
                  <a:srgbClr val="0091EA"/>
                </a:solidFill>
              </a:rPr>
              <a:t>4.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FF88CEFA-D53D-5D4F-DCE4-6369505ED5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927109"/>
              </p:ext>
            </p:extLst>
          </p:nvPr>
        </p:nvGraphicFramePr>
        <p:xfrm>
          <a:off x="5415061" y="2823010"/>
          <a:ext cx="2044584" cy="1712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1F5CF7AF-CAFC-1807-FE44-B32FFA448432}"/>
              </a:ext>
            </a:extLst>
          </p:cNvPr>
          <p:cNvSpPr txBox="1">
            <a:spLocks/>
          </p:cNvSpPr>
          <p:nvPr/>
        </p:nvSpPr>
        <p:spPr>
          <a:xfrm>
            <a:off x="464267" y="158773"/>
            <a:ext cx="10095600" cy="936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3200" dirty="0" err="1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taskscheduleR</a:t>
            </a:r>
            <a:r>
              <a:rPr lang="de-DE" sz="3200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 - Beispiel</a:t>
            </a:r>
          </a:p>
        </p:txBody>
      </p:sp>
    </p:spTree>
    <p:extLst>
      <p:ext uri="{BB962C8B-B14F-4D97-AF65-F5344CB8AC3E}">
        <p14:creationId xmlns:p14="http://schemas.microsoft.com/office/powerpoint/2010/main" val="3479937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67F0-1DFE-C14D-0750-097E47E3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/>
              <a:t>Beispielprojekte</a:t>
            </a:r>
            <a:endParaRPr lang="de-DE" sz="3200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F4A9A-04D3-E837-FA94-876682D17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de-DE" sz="2000" noProof="0" dirty="0"/>
              <a:t>Monatlicher Download von EIOPA Zinskurve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Automatisierter Länderspiegel (siehe Modul III)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Tägliche / wöchentliche Modellrechnungen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Automatisierte Berichte über Bestandsveränderungen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FMA Quartalsberichte zum österreichischen Pensionskassenmarkt: (</a:t>
            </a:r>
            <a:r>
              <a:rPr lang="de-DE" sz="2000" noProof="0" dirty="0">
                <a:hlinkClick r:id="rId2"/>
              </a:rPr>
              <a:t>Link</a:t>
            </a:r>
            <a:r>
              <a:rPr lang="de-DE" sz="2000" noProof="0" dirty="0"/>
              <a:t>)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EIOPA: Überblick über den europäischem Versicherungsmarkt (</a:t>
            </a:r>
            <a:r>
              <a:rPr lang="de-DE" sz="2000" noProof="0" dirty="0">
                <a:hlinkClick r:id="rId3"/>
              </a:rPr>
              <a:t>Link</a:t>
            </a:r>
            <a:r>
              <a:rPr lang="de-DE" sz="2000" noProof="0" dirty="0"/>
              <a:t>)</a:t>
            </a:r>
          </a:p>
          <a:p>
            <a:pPr>
              <a:spcBef>
                <a:spcPts val="2400"/>
              </a:spcBef>
            </a:pPr>
            <a:endParaRPr lang="de-DE" sz="2000" noProof="0" dirty="0"/>
          </a:p>
          <a:p>
            <a:pPr marL="101598" indent="0">
              <a:spcBef>
                <a:spcPts val="2400"/>
              </a:spcBef>
              <a:buNone/>
            </a:pPr>
            <a:endParaRPr lang="de-DE" sz="2000" noProof="0" dirty="0"/>
          </a:p>
          <a:p>
            <a:pPr>
              <a:spcBef>
                <a:spcPts val="2400"/>
              </a:spcBef>
            </a:pPr>
            <a:endParaRPr lang="de-DE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E1947-C6AF-27B0-38C2-778AC1BF0D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5363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EC7A-3EE2-1415-069A-07A7E1DD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Einen Bericht bauen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8F00D-3A5A-50B0-DF96-806D614C60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15</a:t>
            </a:fld>
            <a:endParaRPr lang="de-DE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A370FD-B3A4-0D87-7E52-007A45A130C3}"/>
              </a:ext>
            </a:extLst>
          </p:cNvPr>
          <p:cNvGrpSpPr>
            <a:grpSpLocks noChangeAspect="1"/>
          </p:cNvGrpSpPr>
          <p:nvPr/>
        </p:nvGrpSpPr>
        <p:grpSpPr>
          <a:xfrm>
            <a:off x="1274305" y="2898921"/>
            <a:ext cx="1893837" cy="1296627"/>
            <a:chOff x="597703" y="2699425"/>
            <a:chExt cx="2794551" cy="19133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1F865CA-2732-FD31-FD81-1E06D8BA3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5405" y="2699425"/>
              <a:ext cx="1459149" cy="145914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25005D-541E-F070-91CF-843EE3BA36F4}"/>
                </a:ext>
              </a:extLst>
            </p:cNvPr>
            <p:cNvSpPr txBox="1"/>
            <p:nvPr/>
          </p:nvSpPr>
          <p:spPr>
            <a:xfrm>
              <a:off x="597703" y="4158574"/>
              <a:ext cx="2794551" cy="454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b="1" noProof="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Berichterstellung.R</a:t>
              </a:r>
              <a:endParaRPr lang="de-DE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pic>
        <p:nvPicPr>
          <p:cNvPr id="8" name="Picture 7" descr="In macOS my .Rmd files are set to open with RStudio but display the wrong  icon - RStudio IDE - Posit Community">
            <a:extLst>
              <a:ext uri="{FF2B5EF4-FFF2-40B4-BE49-F238E27FC236}">
                <a16:creationId xmlns:a16="http://schemas.microsoft.com/office/drawing/2014/main" id="{B1C93D80-E594-96B8-5229-1342650D5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893" y="2898921"/>
            <a:ext cx="1008000" cy="100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74769A-3BF3-359D-0DC1-781E483B4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69" y="4987904"/>
            <a:ext cx="720000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0EA8DF-4702-1E8D-5C3B-42AA0B51D089}"/>
              </a:ext>
            </a:extLst>
          </p:cNvPr>
          <p:cNvSpPr txBox="1"/>
          <p:nvPr/>
        </p:nvSpPr>
        <p:spPr>
          <a:xfrm>
            <a:off x="4599751" y="3887770"/>
            <a:ext cx="1893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Bericht.Rmd</a:t>
            </a:r>
            <a:endParaRPr lang="de-DE" sz="1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A06A4B-F219-F443-49EA-07F492C95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692" y="3834443"/>
            <a:ext cx="900000" cy="9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951EC7-4A02-215D-E7CE-0787F09A4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3860" y="2338628"/>
            <a:ext cx="900000" cy="90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919D26-B655-F364-2F82-615B762FC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000" y="4987904"/>
            <a:ext cx="720000" cy="7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0964B4-B294-2E89-3A69-0724B7005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177" y="5780261"/>
            <a:ext cx="720000" cy="7200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75BA4A-57FB-B9F5-6B0C-EF14C0737E2D}"/>
              </a:ext>
            </a:extLst>
          </p:cNvPr>
          <p:cNvCxnSpPr/>
          <p:nvPr/>
        </p:nvCxnSpPr>
        <p:spPr>
          <a:xfrm flipV="1">
            <a:off x="5630893" y="4321908"/>
            <a:ext cx="0" cy="5001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6DE19F-109D-8A46-B1BB-667EFF782043}"/>
              </a:ext>
            </a:extLst>
          </p:cNvPr>
          <p:cNvCxnSpPr>
            <a:cxnSpLocks/>
          </p:cNvCxnSpPr>
          <p:nvPr/>
        </p:nvCxnSpPr>
        <p:spPr>
          <a:xfrm>
            <a:off x="2954215" y="3429000"/>
            <a:ext cx="19460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3090F43-AC92-1264-2975-0BA8385CF481}"/>
              </a:ext>
            </a:extLst>
          </p:cNvPr>
          <p:cNvSpPr txBox="1"/>
          <p:nvPr/>
        </p:nvSpPr>
        <p:spPr>
          <a:xfrm>
            <a:off x="3242792" y="3275111"/>
            <a:ext cx="12119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400" b="1" noProof="0" dirty="0" err="1"/>
              <a:t>Knit</a:t>
            </a:r>
            <a:r>
              <a:rPr lang="de-DE" sz="1400" b="1" noProof="0" dirty="0"/>
              <a:t> / Aufruf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D48473F-5B06-697C-B1EE-D92B56DAD278}"/>
              </a:ext>
            </a:extLst>
          </p:cNvPr>
          <p:cNvCxnSpPr>
            <a:cxnSpLocks/>
          </p:cNvCxnSpPr>
          <p:nvPr/>
        </p:nvCxnSpPr>
        <p:spPr>
          <a:xfrm flipV="1">
            <a:off x="6456000" y="2680982"/>
            <a:ext cx="2430585" cy="75529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3315DBA-B026-1861-325C-A0B339A7EBD0}"/>
              </a:ext>
            </a:extLst>
          </p:cNvPr>
          <p:cNvCxnSpPr>
            <a:cxnSpLocks/>
          </p:cNvCxnSpPr>
          <p:nvPr/>
        </p:nvCxnSpPr>
        <p:spPr>
          <a:xfrm>
            <a:off x="6456000" y="3432440"/>
            <a:ext cx="2430585" cy="80400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433677-3339-9520-FC81-4E8F31FC7A68}"/>
              </a:ext>
            </a:extLst>
          </p:cNvPr>
          <p:cNvSpPr txBox="1"/>
          <p:nvPr/>
        </p:nvSpPr>
        <p:spPr>
          <a:xfrm>
            <a:off x="6976126" y="3278551"/>
            <a:ext cx="12119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400" b="1" noProof="0" dirty="0"/>
              <a:t>Ausgabe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3B3A6-4E67-823E-AEA8-64040DB7E6C3}"/>
              </a:ext>
            </a:extLst>
          </p:cNvPr>
          <p:cNvSpPr txBox="1"/>
          <p:nvPr/>
        </p:nvSpPr>
        <p:spPr>
          <a:xfrm>
            <a:off x="7160756" y="5599924"/>
            <a:ext cx="4410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hlinkClick r:id="rId7"/>
              </a:rPr>
              <a:t>Kursunterlagen</a:t>
            </a:r>
            <a:r>
              <a:rPr lang="en-GB" dirty="0">
                <a:hlinkClick r:id="rId7"/>
              </a:rPr>
              <a:t> - Repo (Modul 5)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792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884951-01DC-35EC-E6EE-ACD121C2E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970" y="2764192"/>
            <a:ext cx="9988060" cy="1329615"/>
          </a:xfrm>
        </p:spPr>
        <p:txBody>
          <a:bodyPr/>
          <a:lstStyle/>
          <a:p>
            <a:pPr marL="0" indent="0">
              <a:buNone/>
            </a:pPr>
            <a:r>
              <a:rPr lang="de-DE" noProof="0" dirty="0">
                <a:hlinkClick r:id="rId2"/>
              </a:rPr>
              <a:t>https://www.menti.com/alp4kkxc4kw9</a:t>
            </a:r>
            <a:endParaRPr lang="de-DE" noProof="0" dirty="0"/>
          </a:p>
          <a:p>
            <a:endParaRPr lang="de-DE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80E905-1F94-9639-FF44-4D4E65B619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30441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x9wt1gxue2c1nqs1y3j5gi7injr28w"/>
</p:tagLst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395</Words>
  <Application>Microsoft Office PowerPoint</Application>
  <PresentationFormat>Widescreen</PresentationFormat>
  <Paragraphs>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Courier New</vt:lpstr>
      <vt:lpstr>Roboto Slab</vt:lpstr>
      <vt:lpstr>Source Sans Pro</vt:lpstr>
      <vt:lpstr>Cordelia template</vt:lpstr>
      <vt:lpstr>Moderne Datenanalyse mit R:  Ein Einstieg für Aktuare  Modul V: Automatisierung  Seminarreihe der ÖFdV Dietmar Hareter, Fabian Pribahsnik</vt:lpstr>
      <vt:lpstr>Wir starten in Kürze</vt:lpstr>
      <vt:lpstr>Agenda</vt:lpstr>
      <vt:lpstr>Bausteine eines Projekts </vt:lpstr>
      <vt:lpstr>Aufgabenplanung in Windows (Task Scheduler)</vt:lpstr>
      <vt:lpstr>Aufgabenplanung - Konfigurationsmöglichkeiten</vt:lpstr>
      <vt:lpstr>Aufgabenplanung – Einfache Aufgabe</vt:lpstr>
      <vt:lpstr>Aufgabenplanung – Einfache Aufgabe</vt:lpstr>
      <vt:lpstr>Aufgabenplanung – Einfache Aufgabe</vt:lpstr>
      <vt:lpstr>Aufgabenplanung – Einfache Aufgabe</vt:lpstr>
      <vt:lpstr>Automatisierung mit R: taskscheduleR</vt:lpstr>
      <vt:lpstr>taskscheduleR</vt:lpstr>
      <vt:lpstr>PowerPoint Presentation</vt:lpstr>
      <vt:lpstr>Beispielprojekte</vt:lpstr>
      <vt:lpstr>Einen Bericht bauen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Pribahsnik, Fabian Peter</dc:creator>
  <cp:lastModifiedBy>Pribahsnik, Fabian Peter</cp:lastModifiedBy>
  <cp:revision>152</cp:revision>
  <cp:lastPrinted>2026-04-07T13:10:29Z</cp:lastPrinted>
  <dcterms:created xsi:type="dcterms:W3CDTF">2026-03-06T13:14:14Z</dcterms:created>
  <dcterms:modified xsi:type="dcterms:W3CDTF">2026-05-06T10:17:39Z</dcterms:modified>
</cp:coreProperties>
</file>